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554480"/>
            <a:ext cx="4023360" cy="4023360"/>
          </a:xfrm>
          <a:prstGeom prst="ellipse">
            <a:avLst/>
          </a:prstGeom>
          <a:solidFill>
            <a:srgbClr val="0A5C57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0"/>
            <a:ext cx="1051560" cy="1051560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8288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GLM-5.2 as a Claude Code Backend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3291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D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z.ai's cheap, non-lazy alternative to Claude Opus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from a group chat   ·   2026-06-23   ·   Brando Miranda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GLM-5.2?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63040"/>
            <a:ext cx="155448" cy="155448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9903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from z.ai
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Chinese AI lab; widely praised right now.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155448" cy="155448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5059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— and not self-hostable
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~700B parameters (estimate), so running it yourself is generally infeasible.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3566160"/>
            <a:ext cx="155448" cy="155448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0215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capable
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colleague: “surprisingly good (much better than Claude Opus), very cheap.”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32120" y="1417320"/>
            <a:ext cx="3063240" cy="2788920"/>
          </a:xfrm>
          <a:prstGeom prst="roundRect">
            <a:avLst>
              <a:gd name="adj" fmla="val 3934"/>
            </a:avLst>
          </a:prstGeom>
          <a:solidFill>
            <a:srgbClr val="0C2B27"/>
          </a:solidFill>
          <a:ln/>
          <a:effectLst>
            <a:outerShdw sx="100000" sy="100000" kx="0" ky="0" algn="bl" rotWithShape="0" blurRad="88900" dist="38100" dir="5400000">
              <a:srgbClr val="0C2B27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32120" y="17830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0A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~700B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553212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D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(est.)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3108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C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 good as the retired Claude Fable — but close, and far cheaper.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colleague prefers it over Opus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86200" cy="3063240"/>
          </a:xfrm>
          <a:prstGeom prst="roundRect">
            <a:avLst>
              <a:gd name="adj" fmla="val 2985"/>
            </a:avLst>
          </a:prstGeom>
          <a:solidFill>
            <a:srgbClr val="E6F0EF"/>
          </a:solidFill>
          <a:ln/>
          <a:effectLst>
            <a:outerShdw sx="100000" sy="100000" kx="0" ky="0" algn="bl" rotWithShape="0" blurRad="88900" dist="38100" dir="5400000">
              <a:srgbClr val="0C2B27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5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GLM-5.2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what it says it will do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lazy — doesn't give up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feels deeper than Claude or Codex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709160" y="1417320"/>
            <a:ext cx="3886200" cy="3063240"/>
          </a:xfrm>
          <a:prstGeom prst="roundRect">
            <a:avLst>
              <a:gd name="adj" fmla="val 2985"/>
            </a:avLst>
          </a:prstGeom>
          <a:solidFill>
            <a:srgbClr val="EEEDEA"/>
          </a:solidFill>
          <a:ln/>
          <a:effectLst>
            <a:outerShdw sx="100000" sy="100000" kx="0" ky="0" algn="bl" rotWithShape="0" blurRad="88900" dist="38100" dir="5400000">
              <a:srgbClr val="0C2B27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1554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74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Opus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4920" y="214884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“maddening hand-waving”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Incompleteness — leaves work unfinished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them toward dropping Claude Max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it up in Claude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00200"/>
            <a:ext cx="25146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C2B27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40180" y="1828800"/>
            <a:ext cx="768096" cy="7680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1440180" y="18288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04088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 to z.ai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Max-like plan at z.ai/model-api.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55848" y="1600200"/>
            <a:ext cx="25146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C2B2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29100" y="1828800"/>
            <a:ext cx="768096" cy="7680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229100" y="18288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93008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router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38728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claude-code-switch or claude-code-router.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44768" y="1600200"/>
            <a:ext cx="25146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C2B27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18020" y="1828800"/>
            <a:ext cx="768096" cy="7680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7018020" y="18288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81928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everything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27648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memories &amp; settings work equivalently.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A5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easy — “Claude itself helped me set it up.”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hack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1143000"/>
          </a:xfrm>
          <a:prstGeom prst="roundRect">
            <a:avLst>
              <a:gd name="adj" fmla="val 9600"/>
            </a:avLst>
          </a:prstGeom>
          <a:solidFill>
            <a:srgbClr val="0A5C57"/>
          </a:solidFill>
          <a:ln/>
          <a:effectLst>
            <a:outerShdw sx="100000" sy="100000" kx="0" ky="0" algn="bl" rotWithShape="0" blurRad="88900" dist="38100" dir="5400000">
              <a:srgbClr val="0C2B27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z.ai's Claude Code endpoint is tied to your subscription — </a:t>
            </a:r>
            <a:pPr indent="0" marL="0">
              <a:buNone/>
            </a:pPr>
            <a:r>
              <a:rPr lang="en-US" sz="2100" b="1" dirty="0">
                <a:solidFill>
                  <a:srgbClr val="E0A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pay-as-you-go.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0080" y="2825496"/>
            <a:ext cx="146304" cy="146304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endpoint for batch jobs, data processing &amp; general API tasks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483864"/>
            <a:ext cx="146304" cy="146304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34015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savings vs pay-per-token — it draws on subscription quota, not your wallet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42232"/>
            <a:ext cx="146304" cy="146304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405993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“Like an almost-Fable model for routine data-processing magic.”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86200" cy="2834640"/>
          </a:xfrm>
          <a:prstGeom prst="roundRect">
            <a:avLst>
              <a:gd name="adj" fmla="val 3226"/>
            </a:avLst>
          </a:prstGeom>
          <a:solidFill>
            <a:srgbClr val="F3EAE7"/>
          </a:solidFill>
          <a:ln/>
          <a:effectLst>
            <a:outerShdw sx="100000" sy="100000" kx="0" ky="0" algn="bl" rotWithShape="0" blurRad="88900" dist="38100" dir="5400000">
              <a:srgbClr val="0C2B27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727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Downside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GPU-limited capacity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A4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windows drain your usage quota faster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09160" y="1417320"/>
            <a:ext cx="3886200" cy="2834640"/>
          </a:xfrm>
          <a:prstGeom prst="roundRect">
            <a:avLst>
              <a:gd name="adj" fmla="val 3226"/>
            </a:avLst>
          </a:prstGeom>
          <a:solidFill>
            <a:srgbClr val="E6F0EF"/>
          </a:solidFill>
          <a:ln/>
          <a:effectLst>
            <a:outerShdw sx="100000" sy="100000" kx="0" ky="0" algn="bl" rotWithShape="0" blurRad="88900" dist="38100" dir="5400000">
              <a:srgbClr val="0C2B27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15727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5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Upside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4920" y="22402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windows = China working hours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it's off-peak during US daytime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adopting — considerations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35608"/>
            <a:ext cx="310896" cy="3108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1024128" y="1399032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service   </a:t>
            </a:r>
            <a:pPr indent="0" marL="0">
              <a:buNone/>
            </a:pPr>
            <a:r>
              <a:rPr lang="en-US" sz="14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Confirm z.ai allows the integration endpoint for general batch / API jobs.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85416"/>
            <a:ext cx="310896" cy="3108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1488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  </a:t>
            </a:r>
            <a:pPr indent="0" marL="0">
              <a:buNone/>
            </a:pPr>
            <a:r>
              <a:rPr lang="en-US" sz="14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Third-party, China-hosted API — check lab / IRB rules for unpublished work.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935224"/>
            <a:ext cx="310896" cy="3108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89864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Hard Rule 9   </a:t>
            </a:r>
            <a:pPr indent="0" marL="0">
              <a:buNone/>
            </a:pPr>
            <a:r>
              <a:rPr lang="en-US" sz="14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 the CLI scaffold; wrap any batch use behind a self-throttling CLI layer.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685032"/>
            <a:ext cx="310896" cy="3108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3648456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first   </a:t>
            </a:r>
            <a:pPr indent="0" marL="0">
              <a:buNone/>
            </a:pPr>
            <a:r>
              <a:rPr lang="en-US" sz="1450" dirty="0">
                <a:solidFill>
                  <a:srgbClr val="5C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Compare vs Opus / Codex on real tasks: Lean/ATP, writing, agentic coding.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256032" cy="256032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3898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GLM-5.2 via claude-code-router on a throwaway task; compare to Opus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6032" cy="256032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031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z.ai pricing + ToS (z.ai/model-api)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862072"/>
            <a:ext cx="256032" cy="256032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81635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keep-vs-drop on Claude Max after a week side-by-side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575304"/>
            <a:ext cx="256032" cy="256032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2958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up: how was the subscription-tied endpoint discovered?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group chat, 2026-06-23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GLM-5.2 as a Claude Code Backend</dc:title>
  <dc:subject>PptxGenJS Presentation</dc:subject>
  <dc:creator>Brando Miranda</dc:creator>
  <cp:lastModifiedBy>Brando Miranda</cp:lastModifiedBy>
  <cp:revision>1</cp:revision>
  <dcterms:created xsi:type="dcterms:W3CDTF">2026-06-23T21:21:30Z</dcterms:created>
  <dcterms:modified xsi:type="dcterms:W3CDTF">2026-06-23T21:21:30Z</dcterms:modified>
</cp:coreProperties>
</file>